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400" b="1" i="0">
                <a:solidFill>
                  <a:srgbClr val="2DD4BF"/>
                </a:solidFill>
                <a:latin typeface="Consolas"/>
              </a:rPr>
              <a:t>WorkMy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63240"/>
            <a:ext cx="94484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E2E8F0"/>
                </a:solidFill>
                <a:latin typeface="Calibri"/>
              </a:rPr>
              <a:t>Gestão completa para freelancers — clientes, serviços, projetos e pagamentos em um só lugar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18107" y="4069080"/>
            <a:ext cx="1691640" cy="457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>
                <a:solidFill>
                  <a:srgbClr val="38BDF8"/>
                </a:solidFill>
                <a:latin typeface="Consolas"/>
              </a:rPr>
              <a:t>React 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84067" y="4069080"/>
            <a:ext cx="1691640" cy="457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>
                <a:solidFill>
                  <a:srgbClr val="38BDF8"/>
                </a:solidFill>
                <a:latin typeface="Consolas"/>
              </a:rPr>
              <a:t>Express (BFF)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0027" y="4069080"/>
            <a:ext cx="1691640" cy="457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>
                <a:solidFill>
                  <a:srgbClr val="38BDF8"/>
                </a:solidFill>
                <a:latin typeface="Consolas"/>
              </a:rPr>
              <a:t>FastAPI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15987" y="4069080"/>
            <a:ext cx="1691640" cy="457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>
                <a:solidFill>
                  <a:srgbClr val="38BDF8"/>
                </a:solidFill>
                <a:latin typeface="Consolas"/>
              </a:rPr>
              <a:t>PostgreSQL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1947" y="4069080"/>
            <a:ext cx="1691640" cy="457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>
                <a:solidFill>
                  <a:srgbClr val="38BDF8"/>
                </a:solidFill>
                <a:latin typeface="Consolas"/>
              </a:rPr>
              <a:t>Docker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76072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Pitch · Projeto Multidisciplinar Integrador · Junho/2026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Trebuchet MS"/>
              </a:rPr>
              <a:t>Arquitetura — Front → Back → Banco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4 camadas, cada uma com uma única responsabilidade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039112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DD4BF"/>
                </a:solidFill>
                <a:latin typeface="Consolas"/>
              </a:rPr>
              <a:t>FRONTEND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2423160"/>
            <a:ext cx="2240280" cy="16916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587752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E2E8F0"/>
                </a:solidFill>
                <a:latin typeface="Trebuchet MS"/>
              </a:rPr>
              <a:t>React SPA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990088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DD4BF"/>
                </a:solidFill>
                <a:latin typeface="Consolas"/>
              </a:rPr>
              <a:t>React 19 + Vite + 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3337560"/>
            <a:ext cx="202082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A interface que o</a:t>
            </a:r>
          </a:p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usuário vê e usa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039112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38BDF8"/>
                </a:solidFill>
                <a:latin typeface="Consolas"/>
              </a:rPr>
              <a:t>GATEWAY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2423160"/>
            <a:ext cx="2240280" cy="16916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2587752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E2E8F0"/>
                </a:solidFill>
                <a:latin typeface="Trebuchet MS"/>
              </a:rPr>
              <a:t>BFF Express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59" y="2990088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8BDF8"/>
                </a:solidFill>
                <a:latin typeface="Consolas"/>
              </a:rPr>
              <a:t>Node.js + Express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3048" y="3337560"/>
            <a:ext cx="202082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“Porteiro”: guarda o token</a:t>
            </a:r>
          </a:p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em cookies seguros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39112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BBF24"/>
                </a:solidFill>
                <a:latin typeface="Consolas"/>
              </a:rPr>
              <a:t>BACKEND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2423160"/>
            <a:ext cx="2240280" cy="16916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59" y="2587752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E2E8F0"/>
                </a:solidFill>
                <a:latin typeface="Trebuchet MS"/>
              </a:rPr>
              <a:t>FastAPI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2990088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BBF24"/>
                </a:solidFill>
                <a:latin typeface="Consolas"/>
              </a:rPr>
              <a:t>Python 3.12 (async)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6248" y="3337560"/>
            <a:ext cx="202082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Regras de negócio,</a:t>
            </a:r>
          </a:p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validações e permissões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2039112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4ADE80"/>
                </a:solidFill>
                <a:latin typeface="Consolas"/>
              </a:rPr>
              <a:t>DADOS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2423160"/>
            <a:ext cx="2240280" cy="16916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2587752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E2E8F0"/>
                </a:solidFill>
                <a:latin typeface="Trebuchet MS"/>
              </a:rPr>
              <a:t>PostgreSQL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990088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4ADE80"/>
                </a:solidFill>
                <a:latin typeface="Consolas"/>
              </a:rPr>
              <a:t>PostgreSQL 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9448" y="3337560"/>
            <a:ext cx="202082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Onde os dados</a:t>
            </a:r>
          </a:p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ficam guardados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246120" y="3268980"/>
            <a:ext cx="411480" cy="0"/>
          </a:xfrm>
          <a:prstGeom prst="line">
            <a:avLst/>
          </a:prstGeom>
          <a:ln w="25400">
            <a:solidFill>
              <a:srgbClr val="E2E8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971800" y="3406140"/>
            <a:ext cx="96011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HTTP + cookies</a:t>
            </a:r>
          </a:p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seguros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989320" y="3268980"/>
            <a:ext cx="411480" cy="0"/>
          </a:xfrm>
          <a:prstGeom prst="line">
            <a:avLst/>
          </a:prstGeom>
          <a:ln w="25400">
            <a:solidFill>
              <a:srgbClr val="E2E8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715000" y="3406140"/>
            <a:ext cx="96011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HTTP + token</a:t>
            </a:r>
          </a:p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JWT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732520" y="3268980"/>
            <a:ext cx="411480" cy="0"/>
          </a:xfrm>
          <a:prstGeom prst="line">
            <a:avLst/>
          </a:prstGeom>
          <a:ln w="25400">
            <a:solidFill>
              <a:srgbClr val="E2E8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458200" y="3406140"/>
            <a:ext cx="960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SQL</a:t>
            </a:r>
          </a:p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(ORM)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572000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  <a:latin typeface="Calibri"/>
              </a:rPr>
              <a:t>Usuário acessa aqui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26364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2DD4BF"/>
                </a:solidFill>
                <a:latin typeface="Calibri"/>
              </a:rPr>
              <a:t>“O front nunca fala direto com o banco e nunca vê o token — cada camada só conhece a vizinha.”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51052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WorkMy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Trebuchet MS"/>
              </a:rPr>
              <a:t>Login Seguro — Diagrama de Sequência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O token JWT nunca chega ao JavaScript do navegador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79" y="1188720"/>
            <a:ext cx="1920240" cy="5029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E2E8F0"/>
                </a:solidFill>
                <a:latin typeface="Trebuchet MS"/>
              </a:rPr>
              <a:t>Usuário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371600" y="1783080"/>
            <a:ext cx="0" cy="4069080"/>
          </a:xfrm>
          <a:prstGeom prst="line">
            <a:avLst/>
          </a:prstGeom>
          <a:ln w="12700">
            <a:solidFill>
              <a:srgbClr val="33415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88920" y="1188720"/>
            <a:ext cx="1920240" cy="5029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2DD4BF"/>
                </a:solidFill>
                <a:latin typeface="Trebuchet MS"/>
              </a:rPr>
              <a:t>React SPA</a:t>
            </a:r>
          </a:p>
          <a:p>
            <a:pPr algn="ctr"/>
            <a:r>
              <a:rPr sz="800">
                <a:solidFill>
                  <a:srgbClr val="94A3B8"/>
                </a:solidFill>
                <a:latin typeface="Consolas"/>
              </a:rPr>
              <a:t>frontend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49039" y="1783080"/>
            <a:ext cx="0" cy="4069080"/>
          </a:xfrm>
          <a:prstGeom prst="line">
            <a:avLst/>
          </a:prstGeom>
          <a:ln w="12700">
            <a:solidFill>
              <a:srgbClr val="33415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66360" y="1188720"/>
            <a:ext cx="1920240" cy="5029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38BDF8"/>
                </a:solidFill>
                <a:latin typeface="Trebuchet MS"/>
              </a:rPr>
              <a:t>BFF Express</a:t>
            </a:r>
          </a:p>
          <a:p>
            <a:pPr algn="ctr"/>
            <a:r>
              <a:rPr sz="800">
                <a:solidFill>
                  <a:srgbClr val="94A3B8"/>
                </a:solidFill>
                <a:latin typeface="Consolas"/>
              </a:rPr>
              <a:t>gateway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0" y="1783080"/>
            <a:ext cx="0" cy="4069080"/>
          </a:xfrm>
          <a:prstGeom prst="line">
            <a:avLst/>
          </a:prstGeom>
          <a:ln w="12700">
            <a:solidFill>
              <a:srgbClr val="33415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543800" y="1188720"/>
            <a:ext cx="1920240" cy="5029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BBF24"/>
                </a:solidFill>
                <a:latin typeface="Trebuchet MS"/>
              </a:rPr>
              <a:t>FastAPI</a:t>
            </a:r>
          </a:p>
          <a:p>
            <a:pPr algn="ctr"/>
            <a:r>
              <a:rPr sz="800">
                <a:solidFill>
                  <a:srgbClr val="94A3B8"/>
                </a:solidFill>
                <a:latin typeface="Consolas"/>
              </a:rPr>
              <a:t>backend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503920" y="1783080"/>
            <a:ext cx="0" cy="4069080"/>
          </a:xfrm>
          <a:prstGeom prst="line">
            <a:avLst/>
          </a:prstGeom>
          <a:ln w="12700">
            <a:solidFill>
              <a:srgbClr val="33415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921240" y="1188720"/>
            <a:ext cx="1920240" cy="5029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87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4ADE80"/>
                </a:solidFill>
                <a:latin typeface="Trebuchet MS"/>
              </a:rPr>
              <a:t>PostgreSQL</a:t>
            </a:r>
          </a:p>
          <a:p>
            <a:pPr algn="ctr"/>
            <a:r>
              <a:rPr sz="800">
                <a:solidFill>
                  <a:srgbClr val="94A3B8"/>
                </a:solidFill>
                <a:latin typeface="Consolas"/>
              </a:rPr>
              <a:t>banco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881360" y="1783080"/>
            <a:ext cx="0" cy="4069080"/>
          </a:xfrm>
          <a:prstGeom prst="line">
            <a:avLst/>
          </a:prstGeom>
          <a:ln w="12700">
            <a:solidFill>
              <a:srgbClr val="33415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71600" y="2240280"/>
            <a:ext cx="2377439" cy="0"/>
          </a:xfrm>
          <a:prstGeom prst="line">
            <a:avLst/>
          </a:prstGeom>
          <a:ln w="19050">
            <a:solidFill>
              <a:srgbClr val="E2E8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371600" y="1947672"/>
            <a:ext cx="23774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E2E8F0"/>
                </a:solidFill>
                <a:latin typeface="Calibri"/>
              </a:rPr>
              <a:t>1 · digita e-mail + senha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49039" y="2697480"/>
            <a:ext cx="2377441" cy="0"/>
          </a:xfrm>
          <a:prstGeom prst="line">
            <a:avLst/>
          </a:prstGeom>
          <a:ln w="19050">
            <a:solidFill>
              <a:srgbClr val="E2E8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749039" y="240487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E2E8F0"/>
                </a:solidFill>
                <a:latin typeface="Calibri"/>
              </a:rPr>
              <a:t>2 · POST /login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26480" y="3154680"/>
            <a:ext cx="2377440" cy="0"/>
          </a:xfrm>
          <a:prstGeom prst="line">
            <a:avLst/>
          </a:prstGeom>
          <a:ln w="19050">
            <a:solidFill>
              <a:srgbClr val="E2E8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126480" y="286207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E2E8F0"/>
                </a:solidFill>
                <a:latin typeface="Calibri"/>
              </a:rPr>
              <a:t>3 · encaminha credenciais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503920" y="3611880"/>
            <a:ext cx="2377440" cy="0"/>
          </a:xfrm>
          <a:prstGeom prst="line">
            <a:avLst/>
          </a:prstGeom>
          <a:ln w="19050">
            <a:solidFill>
              <a:srgbClr val="E2E8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503920" y="3319272"/>
            <a:ext cx="23774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E2E8F0"/>
                </a:solidFill>
                <a:latin typeface="Calibri"/>
              </a:rPr>
              <a:t>4 · busca usuário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8503920" y="4069080"/>
            <a:ext cx="2377440" cy="0"/>
          </a:xfrm>
          <a:prstGeom prst="line">
            <a:avLst/>
          </a:prstGeom>
          <a:ln w="19050">
            <a:solidFill>
              <a:srgbClr val="94A3B8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503920" y="3776472"/>
            <a:ext cx="23774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  <a:latin typeface="Calibri"/>
              </a:rPr>
              <a:t>5 · dados + hash da senha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6126480" y="4526280"/>
            <a:ext cx="2377440" cy="0"/>
          </a:xfrm>
          <a:prstGeom prst="line">
            <a:avLst/>
          </a:prstGeom>
          <a:ln w="19050">
            <a:solidFill>
              <a:srgbClr val="94A3B8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126480" y="423367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  <a:latin typeface="Calibri"/>
              </a:rPr>
              <a:t>6 · tokens JWT (1h + 7d)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92040" y="4709160"/>
            <a:ext cx="2468880" cy="457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BBF24"/>
                </a:solidFill>
                <a:latin typeface="Calibri"/>
              </a:rPr>
              <a:t>guarda tokens em cookies HTTP-Only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3749039" y="5623560"/>
            <a:ext cx="2377441" cy="0"/>
          </a:xfrm>
          <a:prstGeom prst="line">
            <a:avLst/>
          </a:prstGeom>
          <a:ln w="19050">
            <a:solidFill>
              <a:srgbClr val="4ADE8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749039" y="533095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4ADE80"/>
                </a:solidFill>
                <a:latin typeface="Calibri"/>
              </a:rPr>
              <a:t>7 · só dados do usuário — SEM tokens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26364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2DD4BF"/>
                </a:solidFill>
                <a:latin typeface="Calibri"/>
              </a:rPr>
              <a:t>“Mesmo num ataque XSS, o token não pode ser roubado: ele nunca existe no navegador.”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51052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WorkMy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Trebuchet MS"/>
              </a:rPr>
              <a:t>Silent Refresh — Renovação Automática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Access token: 1 hora · Refresh token: 7 dias · o usuário nem percebe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17320" y="1188720"/>
            <a:ext cx="1920240" cy="5029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2DD4BF"/>
                </a:solidFill>
                <a:latin typeface="Trebuchet MS"/>
              </a:rPr>
              <a:t>React SPA</a:t>
            </a:r>
          </a:p>
          <a:p>
            <a:pPr algn="ctr"/>
            <a:r>
              <a:rPr sz="800">
                <a:solidFill>
                  <a:srgbClr val="94A3B8"/>
                </a:solidFill>
                <a:latin typeface="Consolas"/>
              </a:rPr>
              <a:t>frontend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377440" y="1783080"/>
            <a:ext cx="0" cy="4160520"/>
          </a:xfrm>
          <a:prstGeom prst="line">
            <a:avLst/>
          </a:prstGeom>
          <a:ln w="12700">
            <a:solidFill>
              <a:srgbClr val="33415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166360" y="1188720"/>
            <a:ext cx="1920240" cy="5029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38BDF8"/>
                </a:solidFill>
                <a:latin typeface="Trebuchet MS"/>
              </a:rPr>
              <a:t>BFF Express</a:t>
            </a:r>
          </a:p>
          <a:p>
            <a:pPr algn="ctr"/>
            <a:r>
              <a:rPr sz="800">
                <a:solidFill>
                  <a:srgbClr val="94A3B8"/>
                </a:solidFill>
                <a:latin typeface="Consolas"/>
              </a:rPr>
              <a:t>gateway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126480" y="1783080"/>
            <a:ext cx="0" cy="4160520"/>
          </a:xfrm>
          <a:prstGeom prst="line">
            <a:avLst/>
          </a:prstGeom>
          <a:ln w="12700">
            <a:solidFill>
              <a:srgbClr val="33415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915400" y="1188720"/>
            <a:ext cx="1920240" cy="5029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BBF24"/>
                </a:solidFill>
                <a:latin typeface="Trebuchet MS"/>
              </a:rPr>
              <a:t>FastAPI</a:t>
            </a:r>
          </a:p>
          <a:p>
            <a:pPr algn="ctr"/>
            <a:r>
              <a:rPr sz="800">
                <a:solidFill>
                  <a:srgbClr val="94A3B8"/>
                </a:solidFill>
                <a:latin typeface="Consolas"/>
              </a:rPr>
              <a:t>backend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875520" y="1783080"/>
            <a:ext cx="0" cy="4160520"/>
          </a:xfrm>
          <a:prstGeom prst="line">
            <a:avLst/>
          </a:prstGeom>
          <a:ln w="12700">
            <a:solidFill>
              <a:srgbClr val="33415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377440" y="2331720"/>
            <a:ext cx="3749040" cy="0"/>
          </a:xfrm>
          <a:prstGeom prst="line">
            <a:avLst/>
          </a:prstGeom>
          <a:ln w="19050">
            <a:solidFill>
              <a:srgbClr val="F8717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377440" y="2039112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87171"/>
                </a:solidFill>
                <a:latin typeface="Calibri"/>
              </a:rPr>
              <a:t>1 · GET /projetos — access token EXPIROU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0" y="2926080"/>
            <a:ext cx="3749040" cy="0"/>
          </a:xfrm>
          <a:prstGeom prst="line">
            <a:avLst/>
          </a:prstGeom>
          <a:ln w="19050">
            <a:solidFill>
              <a:srgbClr val="E2E8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80" y="2633472"/>
            <a:ext cx="3749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E2E8F0"/>
                </a:solidFill>
                <a:latin typeface="Calibri"/>
              </a:rPr>
              <a:t>2 · pede novo token (usa o refresh token)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6126480" y="3520440"/>
            <a:ext cx="3749040" cy="0"/>
          </a:xfrm>
          <a:prstGeom prst="line">
            <a:avLst/>
          </a:prstGeom>
          <a:ln w="19050">
            <a:solidFill>
              <a:srgbClr val="94A3B8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126480" y="3227832"/>
            <a:ext cx="3749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  <a:latin typeface="Calibri"/>
              </a:rPr>
              <a:t>3 · novo access token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3703320"/>
            <a:ext cx="2011680" cy="384048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FBBF24"/>
                </a:solidFill>
              </a:rPr>
              <a:t>atualiza o cookie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26480" y="4572000"/>
            <a:ext cx="3749040" cy="0"/>
          </a:xfrm>
          <a:prstGeom prst="line">
            <a:avLst/>
          </a:prstGeom>
          <a:ln w="19050">
            <a:solidFill>
              <a:srgbClr val="E2E8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26480" y="4279392"/>
            <a:ext cx="3749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E2E8F0"/>
                </a:solidFill>
                <a:latin typeface="Calibri"/>
              </a:rPr>
              <a:t>4 · repete a requisição original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6126480" y="5166360"/>
            <a:ext cx="3749040" cy="0"/>
          </a:xfrm>
          <a:prstGeom prst="line">
            <a:avLst/>
          </a:prstGeom>
          <a:ln w="19050">
            <a:solidFill>
              <a:srgbClr val="94A3B8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126480" y="4873752"/>
            <a:ext cx="3749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  <a:latin typeface="Calibri"/>
              </a:rPr>
              <a:t>5 · 200 — lista de projetos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377440" y="5760720"/>
            <a:ext cx="3749040" cy="0"/>
          </a:xfrm>
          <a:prstGeom prst="line">
            <a:avLst/>
          </a:prstGeom>
          <a:ln w="19050">
            <a:solidFill>
              <a:srgbClr val="4ADE8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377440" y="5468112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4ADE80"/>
                </a:solidFill>
                <a:latin typeface="Calibri"/>
              </a:rPr>
              <a:t>6 · entrega normal — usuário nem percebe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26364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2DD4BF"/>
                </a:solidFill>
                <a:latin typeface="Calibri"/>
              </a:rPr>
              <a:t>“Token curto dá segurança; refresh automático dá conforto: 7 dias logado, mas um token roubado vale só 1 hora.”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1052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WorkMy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Trebuchet MS"/>
              </a:rPr>
              <a:t>Banco de Dados — 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Quem usa → quem contrata → o que é feito → quanto é pago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651760"/>
            <a:ext cx="2286000" cy="34747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F172A"/>
                </a:solidFill>
                <a:latin typeface="Consolas"/>
              </a:rPr>
              <a:t>USUARIOS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999232"/>
            <a:ext cx="2286000" cy="932688"/>
          </a:xfrm>
          <a:prstGeom prst="rect">
            <a:avLst/>
          </a:prstGeom>
          <a:solidFill>
            <a:srgbClr val="1E293B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tIns="38100"/>
          <a:lstStyle/>
          <a:p>
            <a:pPr algn="l"/>
            <a:r>
              <a:rPr sz="1000">
                <a:solidFill>
                  <a:srgbClr val="FBBF24"/>
                </a:solidFill>
                <a:latin typeface="Consolas"/>
              </a:rPr>
              <a:t>id  PK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username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email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password_hash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371600"/>
            <a:ext cx="2286000" cy="3474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F172A"/>
                </a:solidFill>
                <a:latin typeface="Consolas"/>
              </a:rPr>
              <a:t>CLIENTES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719072"/>
            <a:ext cx="2286000" cy="932688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tIns="38100"/>
          <a:lstStyle/>
          <a:p>
            <a:pPr algn="l"/>
            <a:r>
              <a:rPr sz="1000">
                <a:solidFill>
                  <a:srgbClr val="FBBF24"/>
                </a:solidFill>
                <a:latin typeface="Consolas"/>
              </a:rPr>
              <a:t>id  PK</a:t>
            </a:r>
          </a:p>
          <a:p>
            <a:pPr algn="l"/>
            <a:r>
              <a:rPr sz="1000">
                <a:solidFill>
                  <a:srgbClr val="FBBF24"/>
                </a:solidFill>
                <a:latin typeface="Consolas"/>
              </a:rPr>
              <a:t>usuario_id  FK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nome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empresa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4069080"/>
            <a:ext cx="2286000" cy="3474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F172A"/>
                </a:solidFill>
                <a:latin typeface="Consolas"/>
              </a:rPr>
              <a:t>SERVICOS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4416552"/>
            <a:ext cx="2286000" cy="932688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tIns="38100"/>
          <a:lstStyle/>
          <a:p>
            <a:pPr algn="l"/>
            <a:r>
              <a:rPr sz="1000">
                <a:solidFill>
                  <a:srgbClr val="FBBF24"/>
                </a:solidFill>
                <a:latin typeface="Consolas"/>
              </a:rPr>
              <a:t>id  PK</a:t>
            </a:r>
          </a:p>
          <a:p>
            <a:pPr algn="l"/>
            <a:r>
              <a:rPr sz="1000">
                <a:solidFill>
                  <a:srgbClr val="FBBF24"/>
                </a:solidFill>
                <a:latin typeface="Consolas"/>
              </a:rPr>
              <a:t>usuario_id  FK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nome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descricao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2560320"/>
            <a:ext cx="2286000" cy="34747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F172A"/>
                </a:solidFill>
                <a:latin typeface="Consolas"/>
              </a:rPr>
              <a:t>PROJETOS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2907791"/>
            <a:ext cx="2286000" cy="1133856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tIns="38100"/>
          <a:lstStyle/>
          <a:p>
            <a:pPr algn="l"/>
            <a:r>
              <a:rPr sz="1000">
                <a:solidFill>
                  <a:srgbClr val="FBBF24"/>
                </a:solidFill>
                <a:latin typeface="Consolas"/>
              </a:rPr>
              <a:t>id  PK</a:t>
            </a:r>
          </a:p>
          <a:p>
            <a:pPr algn="l"/>
            <a:r>
              <a:rPr sz="1000">
                <a:solidFill>
                  <a:srgbClr val="FBBF24"/>
                </a:solidFill>
                <a:latin typeface="Consolas"/>
              </a:rPr>
              <a:t>cliente_id  FK</a:t>
            </a:r>
          </a:p>
          <a:p>
            <a:pPr algn="l"/>
            <a:r>
              <a:rPr sz="1000">
                <a:solidFill>
                  <a:srgbClr val="FBBF24"/>
                </a:solidFill>
                <a:latin typeface="Consolas"/>
              </a:rPr>
              <a:t>servico_id  FK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status · valor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mensalista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92640" y="2651760"/>
            <a:ext cx="2286000" cy="34747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F172A"/>
                </a:solidFill>
                <a:latin typeface="Consolas"/>
              </a:rPr>
              <a:t>PAGAMENTOS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640" y="2999232"/>
            <a:ext cx="2286000" cy="932688"/>
          </a:xfrm>
          <a:prstGeom prst="rect">
            <a:avLst/>
          </a:prstGeom>
          <a:solidFill>
            <a:srgbClr val="1E293B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tIns="38100"/>
          <a:lstStyle/>
          <a:p>
            <a:pPr algn="l"/>
            <a:r>
              <a:rPr sz="1000">
                <a:solidFill>
                  <a:srgbClr val="FBBF24"/>
                </a:solidFill>
                <a:latin typeface="Consolas"/>
              </a:rPr>
              <a:t>id  PK</a:t>
            </a:r>
          </a:p>
          <a:p>
            <a:pPr algn="l"/>
            <a:r>
              <a:rPr sz="1000">
                <a:solidFill>
                  <a:srgbClr val="FBBF24"/>
                </a:solidFill>
                <a:latin typeface="Consolas"/>
              </a:rPr>
              <a:t>projeto_id  FK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valor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data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2926080" y="2240280"/>
            <a:ext cx="731520" cy="82296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971800" y="2395728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DD4BF"/>
                </a:solidFill>
                <a:latin typeface="Consolas"/>
              </a:rPr>
              <a:t>1:N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26080" y="3520440"/>
            <a:ext cx="731520" cy="105156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71800" y="406908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DD4BF"/>
                </a:solidFill>
                <a:latin typeface="Consolas"/>
              </a:rPr>
              <a:t>1:N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0" y="2240280"/>
            <a:ext cx="731520" cy="77724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89320" y="2395728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DD4BF"/>
                </a:solidFill>
                <a:latin typeface="Consolas"/>
              </a:rPr>
              <a:t>1:N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5943600" y="3566160"/>
            <a:ext cx="731520" cy="100584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89320" y="406908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DD4BF"/>
                </a:solidFill>
                <a:latin typeface="Consolas"/>
              </a:rPr>
              <a:t>1:N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961120" y="3291840"/>
            <a:ext cx="73152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006840" y="299923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DD4BF"/>
                </a:solidFill>
                <a:latin typeface="Consolas"/>
              </a:rPr>
              <a:t>1:N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26364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2DD4BF"/>
                </a:solidFill>
                <a:latin typeface="Calibri"/>
              </a:rPr>
              <a:t>“Um projeto une um cliente a um serviço — e gera pagamentos. Soft delete em tudo: o histórico nunca se perde.”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1052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WorkMy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Trebuchet MS"/>
              </a:rPr>
              <a:t>Stack &amp; Diferenciais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Tecnologias modernas, arquitetura profissional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3520440" cy="960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60020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2E8F0"/>
                </a:solidFill>
                <a:latin typeface="Trebuchet MS"/>
              </a:rPr>
              <a:t>React 19 + Vite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96596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Interface rápida (SPA)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63040"/>
            <a:ext cx="3520440" cy="960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60020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2E8F0"/>
                </a:solidFill>
                <a:latin typeface="Trebuchet MS"/>
              </a:rPr>
              <a:t>Node.js + Express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96596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BFF — gateway seguro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463040"/>
            <a:ext cx="3520440" cy="960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19" y="160020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2E8F0"/>
                </a:solidFill>
                <a:latin typeface="Trebuchet MS"/>
              </a:rPr>
              <a:t>FastAPI (Python)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19" y="196596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API assíncrona + Swagger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43200"/>
            <a:ext cx="3520440" cy="960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288036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2E8F0"/>
                </a:solidFill>
                <a:latin typeface="Trebuchet MS"/>
              </a:rPr>
              <a:t>PostgreSQL 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24612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Banco relacional robusto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2743200"/>
            <a:ext cx="3520440" cy="960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88036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2E8F0"/>
                </a:solidFill>
                <a:latin typeface="Trebuchet MS"/>
              </a:rPr>
              <a:t>RabbitMQ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24612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Mensageria p/ cobranças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2743200"/>
            <a:ext cx="3520440" cy="960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19" y="288036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2E8F0"/>
                </a:solidFill>
                <a:latin typeface="Trebuchet MS"/>
              </a:rPr>
              <a:t>Docker Compose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324612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Sobe tudo com 1 comando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69080"/>
            <a:ext cx="3520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DD4BF"/>
                </a:solidFill>
                <a:latin typeface="Trebuchet MS"/>
              </a:rPr>
              <a:t>Seguro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480560"/>
            <a:ext cx="3337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JWT em cookies HTTP-Only — imune a roubo de token via XSS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069080"/>
            <a:ext cx="3520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DD4BF"/>
                </a:solidFill>
                <a:latin typeface="Trebuchet MS"/>
              </a:rPr>
              <a:t>Sem fricção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480560"/>
            <a:ext cx="3337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Silent refresh: 7 dias logado sem pedir senha de novo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069080"/>
            <a:ext cx="3520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DD4BF"/>
                </a:solidFill>
                <a:latin typeface="Trebuchet MS"/>
              </a:rPr>
              <a:t>Com histórico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480560"/>
            <a:ext cx="3337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Soft delete + multitenant: dados isolados e preservados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580644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1">
                <a:solidFill>
                  <a:srgbClr val="2DD4BF"/>
                </a:solidFill>
                <a:latin typeface="Trebuchet MS"/>
              </a:rPr>
              <a:t>WorkMy — menos planilha, mais trabalho entregue.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1052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WorkMy ·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